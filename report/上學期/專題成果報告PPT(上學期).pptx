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芫荽" charset="1" panose="00000000000000000000"/>
      <p:regular r:id="rId33"/>
    </p:embeddedFont>
    <p:embeddedFont>
      <p:font typeface="Sarabun" charset="1" panose="00000500000000000000"/>
      <p:regular r:id="rId34"/>
    </p:embeddedFont>
    <p:embeddedFont>
      <p:font typeface="Sarabun Bold" charset="1" panose="000008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背景介紹</a:t>
            </a:r>
          </a:p>
          <a:p>
            <a:r>
              <a:rPr lang="en-US"/>
              <a:t>一、潛在的量子威脅</a:t>
            </a:r>
          </a:p>
          <a:p>
            <a:r>
              <a:rPr lang="en-US"/>
              <a:t>隨著量子計算技術快速發展，傳統基於 RSA、ECC 的公鑰密碼體系將在量子電腦成熟後失效</a:t>
            </a:r>
          </a:p>
          <a:p>
            <a:r>
              <a:rPr lang="en-US"/>
              <a:t>這種威脅已不再是理論，是全球 IT 基礎設施必須面對的嚴峻挑戰</a:t>
            </a:r>
          </a:p>
          <a:p>
            <a:r>
              <a:rPr lang="en-US"/>
              <a:t>二、企業現況挑戰 </a:t>
            </a:r>
          </a:p>
          <a:p>
            <a:r>
              <a:rPr lang="en-US"/>
              <a:t>軟體架構龐大且複雜：RSA 與 ECC 廣泛存在於程式、協定、套件與憑證中</a:t>
            </a:r>
          </a:p>
          <a:p>
            <a:r>
              <a:rPr lang="en-US"/>
              <a:t>造成盤點難度高：人工盤點密碼學資產既耗時又易遺漏</a:t>
            </a:r>
          </a:p>
          <a:p>
            <a:r>
              <a:rPr lang="en-US"/>
              <a:t>因此，企業需要一個自動化框架，可以有效支援複雜的後量子密碼遷移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一、軟體資產盤點的規模與語義挑戰</a:t>
            </a:r>
          </a:p>
          <a:p>
            <a:r>
              <a:rPr lang="en-US"/>
              <a:t>就像我前面說的，現代軟體架構龐雜</a:t>
            </a:r>
          </a:p>
          <a:p>
            <a:r>
              <a:rPr lang="en-US"/>
              <a:t>此外，缺乏語義透明度：RSA 與 ECC 等量子脆弱資產的追溯，要求的不僅是字串比對，更需要理解程式碼的語境</a:t>
            </a:r>
          </a:p>
          <a:p>
            <a:r>
              <a:rPr lang="en-US"/>
              <a:t>二、現有自動化工具的技術侷限</a:t>
            </a:r>
          </a:p>
          <a:p>
            <a:r>
              <a:rPr lang="en-US"/>
              <a:t>傳統工具依賴字串比對：傳統的掃描工具大多只能在文字層面進行模式匹配，無法區分程式碼、註解或字串常數</a:t>
            </a:r>
          </a:p>
          <a:p>
            <a:r>
              <a:rPr lang="en-US"/>
              <a:t>誤報與漏報問題嚴重：這種技術限制會導致高誤報率，或因無法解析複雜的語義而造成高漏報率</a:t>
            </a:r>
          </a:p>
          <a:p>
            <a:r>
              <a:rPr lang="en-US"/>
              <a:t>無法進行深度分析：傳統方法無法解析函式參數的語義。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本研究的目的是提出跨語言自動化盤點框架，以應對企業需求。</a:t>
            </a:r>
          </a:p>
          <a:p>
            <a:r>
              <a:rPr lang="en-US"/>
              <a:t>框架整合了規則庫，結合 CBOM 流程及HTML網頁報告。</a:t>
            </a:r>
          </a:p>
          <a:p>
            <a:r>
              <a:rPr lang="en-US"/>
              <a:t>一、建構高精準度的密碼資產識別機制</a:t>
            </a:r>
          </a:p>
          <a:p>
            <a:r>
              <a:rPr lang="en-US"/>
              <a:t>利用抽象語法樹 (AST) 靜態分析技術，建構一套高精準度、低誤報率的識別機制</a:t>
            </a:r>
          </a:p>
          <a:p>
            <a:r>
              <a:rPr lang="en-US"/>
              <a:t>目標是解決傳統正規表達式（ Regex ）工具容易產生高誤報或高漏報的問題，精準判斷密碼學的使用語境</a:t>
            </a:r>
          </a:p>
          <a:p>
            <a:r>
              <a:rPr lang="en-US"/>
              <a:t>二、實現跨語言盤點與資產追溯</a:t>
            </a:r>
          </a:p>
          <a:p>
            <a:r>
              <a:rPr lang="en-US"/>
              <a:t>開發一套跨語言的解析器核心，實現對多語言程式碼的統一盤點與追溯，我們目前著重在 Python 和 Java 的部分。</a:t>
            </a:r>
          </a:p>
          <a:p>
            <a:r>
              <a:rPr lang="en-US"/>
              <a:t>三、建立標準化的密碼學物料清單 (CBOM) 報告生成器，將盤點結果結構化，以提升軟體供應鏈在 PQC 遷移中的數據透明度。</a:t>
            </a:r>
          </a:p>
          <a:p>
            <a:r>
              <a:rPr lang="en-US"/>
              <a:t>將掃描數據即時轉換為可互動的圓餅圖，並嵌入 HTML 網頁報告中，提升報告的分析深度和使用者體驗。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HTML 網頁報告</a:t>
            </a:r>
          </a:p>
          <a:p>
            <a:r>
              <a:rPr lang="en-US"/>
              <a:t>將掃描結果即時轉換為圖表，用於風險分佈分析。</a:t>
            </a:r>
          </a:p>
          <a:p>
            <a:r>
              <a:rPr lang="en-US"/>
              <a:t>對原始的 PqcFinding 進行聚合、分組和統計，為 Plotly 繪圖準備精確的統計數據。</a:t>
            </a:r>
          </a:p>
          <a:p>
            <a:r>
              <a:rPr lang="en-US"/>
              <a:t>協調並調度數據處理和 Plotly 繪圖，最終將 Plotly 生成的圖表代碼寫入 PQC_Report.html 檔案。</a:t>
            </a:r>
          </a:p>
          <a:p>
            <a:r>
              <a:rPr lang="en-US"/>
              <a:t>最終的靜態網頁檔案，提供使用者友善、視覺化的風險報告。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一、利用人工智慧技術，將工具的能力從「發現問題」提升到「解決問題」。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衷心感謝來自勤業眾信的指導老師們。在專題初期，面對後量子密碼學這一個陌生的概念，老師們提供了專題訂定方向與可行性目標，還有後量子密碼的相關論文及工具，幫助我們從眾多開源工具的繁雜基礎中，確立了自主開發基於 AST 靜態分析工具的核心方向。在這學期的專題製作中，老師們透過每月定期的線上會議，持續關心並了解我們的進度。對於我們在實作過程中，不論是技術方面，還是目標確立方面，老師們總能耐心給予專業的解答與指導，使我們克服困難、將專題從單純的輸出報告整合，進化到運用精確的 AST 語義分析和視覺化報告，成功自己做出一個符合後量子密碼遷移的靜態掃描盤點工具。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7AYGB6Gs.mp4" Type="http://schemas.microsoft.com/office/2007/relationships/media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jpeg" Type="http://schemas.openxmlformats.org/officeDocument/2006/relationships/image"/><Relationship Id="rId9" Target="../media/VAG7AYGB6Gs.mp4" Type="http://schemas.openxmlformats.org/officeDocument/2006/relationships/video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92245" cy="5584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72403" y="6857470"/>
            <a:ext cx="10101119" cy="192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3662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組別：第五組</a:t>
            </a:r>
          </a:p>
          <a:p>
            <a:pPr algn="ctr">
              <a:lnSpc>
                <a:spcPts val="5126"/>
              </a:lnSpc>
            </a:pPr>
            <a:r>
              <a:rPr lang="en-US" sz="3662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指導老師：勤業眾信 陳威棋 副總</a:t>
            </a:r>
          </a:p>
          <a:p>
            <a:pPr algn="ctr">
              <a:lnSpc>
                <a:spcPts val="5126"/>
              </a:lnSpc>
            </a:pPr>
            <a:r>
              <a:rPr lang="en-US" sz="3662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組員：李昺圜、黃馨賢、余采芸</a:t>
            </a:r>
          </a:p>
        </p:txBody>
      </p:sp>
      <p:grpSp>
        <p:nvGrpSpPr>
          <p:cNvPr name="Group 6" id="6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92702" y="3423196"/>
            <a:ext cx="12260521" cy="243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5"/>
              </a:lnSpc>
            </a:pPr>
            <a:r>
              <a:rPr lang="en-US" sz="6996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後量子密碼遷移之加密演算法自動化盤點框架研究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192245" cy="5584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352341" y="338081"/>
            <a:ext cx="6791659" cy="9610838"/>
          </a:xfrm>
          <a:custGeom>
            <a:avLst/>
            <a:gdLst/>
            <a:ahLst/>
            <a:cxnLst/>
            <a:rect r="r" b="b" t="t" l="l"/>
            <a:pathLst>
              <a:path h="9610838" w="6791659">
                <a:moveTo>
                  <a:pt x="0" y="0"/>
                </a:moveTo>
                <a:lnTo>
                  <a:pt x="6791659" y="0"/>
                </a:lnTo>
                <a:lnTo>
                  <a:pt x="6791659" y="9610838"/>
                </a:lnTo>
                <a:lnTo>
                  <a:pt x="0" y="96108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09220" y="2198892"/>
            <a:ext cx="6584860" cy="6584860"/>
          </a:xfrm>
          <a:custGeom>
            <a:avLst/>
            <a:gdLst/>
            <a:ahLst/>
            <a:cxnLst/>
            <a:rect r="r" b="b" t="t" l="l"/>
            <a:pathLst>
              <a:path h="6584860" w="6584860">
                <a:moveTo>
                  <a:pt x="0" y="0"/>
                </a:moveTo>
                <a:lnTo>
                  <a:pt x="6584860" y="0"/>
                </a:lnTo>
                <a:lnTo>
                  <a:pt x="6584860" y="6584860"/>
                </a:lnTo>
                <a:lnTo>
                  <a:pt x="0" y="65848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17486" y="3013517"/>
            <a:ext cx="4449963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分工表 ...........1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17486" y="4019358"/>
            <a:ext cx="4449963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甘特圖 ...........2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17486" y="5037407"/>
            <a:ext cx="4449963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背景介紹  ......3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17486" y="7092555"/>
            <a:ext cx="5784430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研究目的  ......5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01916" y="4009833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系統架構  ......12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01916" y="5037407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Demo 展示  ...21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17486" y="6064981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問題陳述  ......4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01916" y="2991785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核心技術  ......6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05567" y="1790442"/>
            <a:ext cx="8297704" cy="83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7301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目錄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01916" y="6064981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未來展望  ......22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01916" y="7083030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心得結語  ......23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1916" y="8101078"/>
            <a:ext cx="5094018" cy="91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2740" indent="-436370" lvl="1">
              <a:lnSpc>
                <a:spcPts val="8084"/>
              </a:lnSpc>
              <a:buFont typeface="Arial"/>
              <a:buChar char="•"/>
            </a:pPr>
            <a:r>
              <a:rPr lang="en-US" sz="4042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銘謝  ..............24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192245" cy="5584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30974" y="4480165"/>
            <a:ext cx="6492158" cy="5291627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1202074" y="2348834"/>
            <a:ext cx="9044400" cy="2424282"/>
            <a:chOff x="0" y="0"/>
            <a:chExt cx="2382064" cy="6384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82064" cy="638494"/>
            </a:xfrm>
            <a:custGeom>
              <a:avLst/>
              <a:gdLst/>
              <a:ahLst/>
              <a:cxnLst/>
              <a:rect r="r" b="b" t="t" l="l"/>
              <a:pathLst>
                <a:path h="638494" w="2382064">
                  <a:moveTo>
                    <a:pt x="43656" y="0"/>
                  </a:moveTo>
                  <a:lnTo>
                    <a:pt x="2338409" y="0"/>
                  </a:lnTo>
                  <a:cubicBezTo>
                    <a:pt x="2349987" y="0"/>
                    <a:pt x="2361091" y="4599"/>
                    <a:pt x="2369278" y="12786"/>
                  </a:cubicBezTo>
                  <a:cubicBezTo>
                    <a:pt x="2377465" y="20973"/>
                    <a:pt x="2382064" y="32077"/>
                    <a:pt x="2382064" y="43656"/>
                  </a:cubicBezTo>
                  <a:lnTo>
                    <a:pt x="2382064" y="594838"/>
                  </a:lnTo>
                  <a:cubicBezTo>
                    <a:pt x="2382064" y="606417"/>
                    <a:pt x="2377465" y="617521"/>
                    <a:pt x="2369278" y="625708"/>
                  </a:cubicBezTo>
                  <a:cubicBezTo>
                    <a:pt x="2361091" y="633894"/>
                    <a:pt x="2349987" y="638494"/>
                    <a:pt x="2338409" y="638494"/>
                  </a:cubicBezTo>
                  <a:lnTo>
                    <a:pt x="43656" y="638494"/>
                  </a:lnTo>
                  <a:cubicBezTo>
                    <a:pt x="32077" y="638494"/>
                    <a:pt x="20973" y="633894"/>
                    <a:pt x="12786" y="625708"/>
                  </a:cubicBezTo>
                  <a:cubicBezTo>
                    <a:pt x="4599" y="617521"/>
                    <a:pt x="0" y="606417"/>
                    <a:pt x="0" y="594838"/>
                  </a:cubicBezTo>
                  <a:lnTo>
                    <a:pt x="0" y="43656"/>
                  </a:lnTo>
                  <a:cubicBezTo>
                    <a:pt x="0" y="32077"/>
                    <a:pt x="4599" y="20973"/>
                    <a:pt x="12786" y="12786"/>
                  </a:cubicBezTo>
                  <a:cubicBezTo>
                    <a:pt x="20973" y="4599"/>
                    <a:pt x="32077" y="0"/>
                    <a:pt x="43656" y="0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382064" cy="68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579056" y="942308"/>
            <a:ext cx="7640663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333652"/>
                </a:solidFill>
                <a:latin typeface="芫荽"/>
                <a:ea typeface="芫荽"/>
                <a:cs typeface="芫荽"/>
                <a:sym typeface="芫荽"/>
              </a:rPr>
              <a:t>分工表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1593" y="2543375"/>
            <a:ext cx="10054366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李昺圜：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開發 Python CLI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開發 </a:t>
            </a:r>
            <a:r>
              <a:rPr lang="en-US" sz="2799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Python AST 引擎、Java AST 引擎 (解析器)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系統測試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724274" y="7784430"/>
            <a:ext cx="6729428" cy="1893374"/>
            <a:chOff x="0" y="0"/>
            <a:chExt cx="1772360" cy="498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2360" cy="498666"/>
            </a:xfrm>
            <a:custGeom>
              <a:avLst/>
              <a:gdLst/>
              <a:ahLst/>
              <a:cxnLst/>
              <a:rect r="r" b="b" t="t" l="l"/>
              <a:pathLst>
                <a:path h="498666" w="1772360">
                  <a:moveTo>
                    <a:pt x="58673" y="0"/>
                  </a:moveTo>
                  <a:lnTo>
                    <a:pt x="1713686" y="0"/>
                  </a:lnTo>
                  <a:cubicBezTo>
                    <a:pt x="1729248" y="0"/>
                    <a:pt x="1744171" y="6182"/>
                    <a:pt x="1755175" y="17185"/>
                  </a:cubicBezTo>
                  <a:cubicBezTo>
                    <a:pt x="1766178" y="28188"/>
                    <a:pt x="1772360" y="43112"/>
                    <a:pt x="1772360" y="58673"/>
                  </a:cubicBezTo>
                  <a:lnTo>
                    <a:pt x="1772360" y="439993"/>
                  </a:lnTo>
                  <a:cubicBezTo>
                    <a:pt x="1772360" y="455554"/>
                    <a:pt x="1766178" y="470478"/>
                    <a:pt x="1755175" y="481481"/>
                  </a:cubicBezTo>
                  <a:cubicBezTo>
                    <a:pt x="1744171" y="492485"/>
                    <a:pt x="1729248" y="498666"/>
                    <a:pt x="1713686" y="498666"/>
                  </a:cubicBezTo>
                  <a:lnTo>
                    <a:pt x="58673" y="498666"/>
                  </a:lnTo>
                  <a:cubicBezTo>
                    <a:pt x="43112" y="498666"/>
                    <a:pt x="28188" y="492485"/>
                    <a:pt x="17185" y="481481"/>
                  </a:cubicBezTo>
                  <a:cubicBezTo>
                    <a:pt x="6182" y="470478"/>
                    <a:pt x="0" y="455554"/>
                    <a:pt x="0" y="439993"/>
                  </a:cubicBezTo>
                  <a:lnTo>
                    <a:pt x="0" y="58673"/>
                  </a:lnTo>
                  <a:cubicBezTo>
                    <a:pt x="0" y="43112"/>
                    <a:pt x="6182" y="28188"/>
                    <a:pt x="17185" y="17185"/>
                  </a:cubicBezTo>
                  <a:cubicBezTo>
                    <a:pt x="28188" y="6182"/>
                    <a:pt x="43112" y="0"/>
                    <a:pt x="58673" y="0"/>
                  </a:cubicBezTo>
                  <a:close/>
                </a:path>
              </a:pathLst>
            </a:custGeom>
            <a:solidFill>
              <a:srgbClr val="ADC1C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772360" cy="546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157380" y="7972684"/>
            <a:ext cx="506233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黃馨賢</a:t>
            </a:r>
            <a:r>
              <a:rPr lang="en-US" sz="28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：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分析及新增規則 (規則庫)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系統測試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616010" y="5064874"/>
            <a:ext cx="7802295" cy="2424282"/>
            <a:chOff x="0" y="0"/>
            <a:chExt cx="2054925" cy="6384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54925" cy="638494"/>
            </a:xfrm>
            <a:custGeom>
              <a:avLst/>
              <a:gdLst/>
              <a:ahLst/>
              <a:cxnLst/>
              <a:rect r="r" b="b" t="t" l="l"/>
              <a:pathLst>
                <a:path h="638494" w="2054925">
                  <a:moveTo>
                    <a:pt x="50605" y="0"/>
                  </a:moveTo>
                  <a:lnTo>
                    <a:pt x="2004320" y="0"/>
                  </a:lnTo>
                  <a:cubicBezTo>
                    <a:pt x="2032269" y="0"/>
                    <a:pt x="2054925" y="22657"/>
                    <a:pt x="2054925" y="50605"/>
                  </a:cubicBezTo>
                  <a:lnTo>
                    <a:pt x="2054925" y="587889"/>
                  </a:lnTo>
                  <a:cubicBezTo>
                    <a:pt x="2054925" y="601310"/>
                    <a:pt x="2049594" y="614182"/>
                    <a:pt x="2040103" y="623672"/>
                  </a:cubicBezTo>
                  <a:cubicBezTo>
                    <a:pt x="2030613" y="633162"/>
                    <a:pt x="2017741" y="638494"/>
                    <a:pt x="2004320" y="638494"/>
                  </a:cubicBezTo>
                  <a:lnTo>
                    <a:pt x="50605" y="638494"/>
                  </a:lnTo>
                  <a:cubicBezTo>
                    <a:pt x="37184" y="638494"/>
                    <a:pt x="24312" y="633162"/>
                    <a:pt x="14822" y="623672"/>
                  </a:cubicBezTo>
                  <a:cubicBezTo>
                    <a:pt x="5332" y="614182"/>
                    <a:pt x="0" y="601310"/>
                    <a:pt x="0" y="587889"/>
                  </a:cubicBezTo>
                  <a:lnTo>
                    <a:pt x="0" y="50605"/>
                  </a:lnTo>
                  <a:cubicBezTo>
                    <a:pt x="0" y="37184"/>
                    <a:pt x="5332" y="24312"/>
                    <a:pt x="14822" y="14822"/>
                  </a:cubicBezTo>
                  <a:cubicBezTo>
                    <a:pt x="24312" y="5332"/>
                    <a:pt x="37184" y="0"/>
                    <a:pt x="50605" y="0"/>
                  </a:cubicBezTo>
                  <a:close/>
                </a:path>
              </a:pathLst>
            </a:custGeom>
            <a:solidFill>
              <a:srgbClr val="2A5E7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054925" cy="68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958906" y="5191805"/>
            <a:ext cx="7459399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余采芸：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開發 CBOM 生成器  (輸出與報告)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製作書面報告</a:t>
            </a:r>
          </a:p>
          <a:p>
            <a:pPr algn="l" marL="604523" indent="-302261" lvl="1">
              <a:lnSpc>
                <a:spcPts val="3920"/>
              </a:lnSpc>
              <a:buAutoNum type="arabicPeriod" startAt="1"/>
            </a:pPr>
            <a:r>
              <a:rPr lang="en-US" sz="2800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系統測試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92245" cy="5584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41122" y="1805577"/>
            <a:ext cx="14169799" cy="8097028"/>
          </a:xfrm>
          <a:custGeom>
            <a:avLst/>
            <a:gdLst/>
            <a:ahLst/>
            <a:cxnLst/>
            <a:rect r="r" b="b" t="t" l="l"/>
            <a:pathLst>
              <a:path h="8097028" w="14169799">
                <a:moveTo>
                  <a:pt x="0" y="0"/>
                </a:moveTo>
                <a:lnTo>
                  <a:pt x="14169799" y="0"/>
                </a:lnTo>
                <a:lnTo>
                  <a:pt x="14169799" y="8097028"/>
                </a:lnTo>
                <a:lnTo>
                  <a:pt x="0" y="8097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596087" y="715962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甘特圖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10574" y="4793704"/>
            <a:ext cx="7980097" cy="3990048"/>
          </a:xfrm>
          <a:custGeom>
            <a:avLst/>
            <a:gdLst/>
            <a:ahLst/>
            <a:cxnLst/>
            <a:rect r="r" b="b" t="t" l="l"/>
            <a:pathLst>
              <a:path h="3990048" w="7980097">
                <a:moveTo>
                  <a:pt x="0" y="0"/>
                </a:moveTo>
                <a:lnTo>
                  <a:pt x="7980096" y="0"/>
                </a:lnTo>
                <a:lnTo>
                  <a:pt x="7980096" y="3990048"/>
                </a:lnTo>
                <a:lnTo>
                  <a:pt x="0" y="39900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35743" y="2715413"/>
            <a:ext cx="7912969" cy="128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一、潛在的量子威脅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量子技術發展：傳統密碼體系面臨嚴峻挑戰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66724" y="1118619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背景介紹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71648" y="5040357"/>
            <a:ext cx="3441160" cy="196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二、企業現況挑戰 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軟體架構龐雜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盤點難度高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566724" y="1118619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問題陳述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66724" y="3218155"/>
            <a:ext cx="6180457" cy="196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一、軟體資產盤點的規模與語義挑戰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規模與複雜度挑戰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缺乏語義透明度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3404" y="6023811"/>
            <a:ext cx="6679319" cy="263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二、現有自動化工具的技術侷限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傳統工具依賴 Regex/字串比對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誤報與漏報問題嚴重</a:t>
            </a:r>
          </a:p>
          <a:p>
            <a:pPr algn="just" marL="647698" indent="-323849" lvl="1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無法進行深度分析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566724" y="1118619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研究目的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35743" y="2699337"/>
            <a:ext cx="9633585" cy="15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一、建構高精準度的密碼資產識別機制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AST靜態分析：高精準度、低誤報率的識別機制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目標：</a:t>
            </a: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精準判斷密碼學的使用語境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02994" y="4792851"/>
            <a:ext cx="1290341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二、實現跨語言盤點與資產追溯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跨</a:t>
            </a: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語言的解析器核心 ( Python, Java )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01603" y="6448296"/>
            <a:ext cx="11359642" cy="15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三、生成標準化的密碼學物料清單 (CBOM)  與可視化的 HTML 網頁報告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建立標準化的密碼學物料清單 (CBOM) 報告生成器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將掃描數據即時轉換為可互動的圓餅圖，並嵌入 HTML 網頁報告中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49269" y="8474044"/>
            <a:ext cx="9382518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四</a:t>
            </a: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、設計支援自動化流程的框架架構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111213"/>
                </a:solidFill>
                <a:latin typeface="Sarabun"/>
                <a:ea typeface="Sarabun"/>
                <a:cs typeface="Sarabun"/>
                <a:sym typeface="Sarabun"/>
              </a:rPr>
              <a:t>設計一套可支援 CLI 呼叫的自動化框架架構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-27522"/>
            <a:ext cx="3953882" cy="3910749"/>
          </a:xfrm>
          <a:custGeom>
            <a:avLst/>
            <a:gdLst/>
            <a:ahLst/>
            <a:cxnLst/>
            <a:rect r="r" b="b" t="t" l="l"/>
            <a:pathLst>
              <a:path h="3910749" w="3953882">
                <a:moveTo>
                  <a:pt x="3953882" y="0"/>
                </a:moveTo>
                <a:lnTo>
                  <a:pt x="0" y="0"/>
                </a:lnTo>
                <a:lnTo>
                  <a:pt x="0" y="3910749"/>
                </a:lnTo>
                <a:lnTo>
                  <a:pt x="3953882" y="3910749"/>
                </a:lnTo>
                <a:lnTo>
                  <a:pt x="39538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028700" y="8570905"/>
            <a:ext cx="2886010" cy="1374790"/>
          </a:xfrm>
          <a:custGeom>
            <a:avLst/>
            <a:gdLst/>
            <a:ahLst/>
            <a:cxnLst/>
            <a:rect r="r" b="b" t="t" l="l"/>
            <a:pathLst>
              <a:path h="1374790" w="2886010">
                <a:moveTo>
                  <a:pt x="0" y="1374790"/>
                </a:moveTo>
                <a:lnTo>
                  <a:pt x="2886010" y="1374790"/>
                </a:lnTo>
                <a:lnTo>
                  <a:pt x="2886010" y="0"/>
                </a:lnTo>
                <a:lnTo>
                  <a:pt x="0" y="0"/>
                </a:lnTo>
                <a:lnTo>
                  <a:pt x="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3364" y="4633720"/>
            <a:ext cx="11101272" cy="149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</a:pPr>
            <a:r>
              <a:rPr lang="en-US" sz="12945">
                <a:solidFill>
                  <a:srgbClr val="333652"/>
                </a:solidFill>
                <a:latin typeface="芫荽"/>
                <a:ea typeface="芫荽"/>
                <a:cs typeface="芫荽"/>
                <a:sym typeface="芫荽"/>
              </a:rPr>
              <a:t>核心技術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10800000">
            <a:off x="14373290" y="341305"/>
            <a:ext cx="2886010" cy="1374790"/>
          </a:xfrm>
          <a:custGeom>
            <a:avLst/>
            <a:gdLst/>
            <a:ahLst/>
            <a:cxnLst/>
            <a:rect r="r" b="b" t="t" l="l"/>
            <a:pathLst>
              <a:path h="1374790" w="2886010">
                <a:moveTo>
                  <a:pt x="2886010" y="1374790"/>
                </a:moveTo>
                <a:lnTo>
                  <a:pt x="0" y="1374790"/>
                </a:lnTo>
                <a:lnTo>
                  <a:pt x="0" y="0"/>
                </a:lnTo>
                <a:lnTo>
                  <a:pt x="2886010" y="0"/>
                </a:lnTo>
                <a:lnTo>
                  <a:pt x="288601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373290" y="6376251"/>
            <a:ext cx="3953882" cy="3910749"/>
          </a:xfrm>
          <a:custGeom>
            <a:avLst/>
            <a:gdLst/>
            <a:ahLst/>
            <a:cxnLst/>
            <a:rect r="r" b="b" t="t" l="l"/>
            <a:pathLst>
              <a:path h="3910749" w="3953882">
                <a:moveTo>
                  <a:pt x="0" y="3910749"/>
                </a:moveTo>
                <a:lnTo>
                  <a:pt x="3953881" y="3910749"/>
                </a:lnTo>
                <a:lnTo>
                  <a:pt x="3953881" y="0"/>
                </a:lnTo>
                <a:lnTo>
                  <a:pt x="0" y="0"/>
                </a:lnTo>
                <a:lnTo>
                  <a:pt x="0" y="39107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7196" y="3126774"/>
            <a:ext cx="1291240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定義： PQC 是指設計用來抵抗強大量子電腦攻擊的加密演算法，旨在取代目前使用的公鑰密碼體系（如 RSA 和 ECC）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5743" y="1238250"/>
            <a:ext cx="1098539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後量子密碼學 (PQC)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45153" y="5483894"/>
            <a:ext cx="12912406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角色 (業務領域)： PQC 定義了專案的審計範圍和目標。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知識庫 (PQC_KNOWLEDGE_BASE) 專門識別那些被視為量子脆弱的資產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（如 RSA、ECC），並提供相應的遷移建議。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7196" y="3126774"/>
            <a:ext cx="1291240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定義： AST 是程式碼的樹狀結構表示，它捕捉了程式碼的語法和語義結構，忽略了不必要的細節 (如空格或註解)。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3712" y="1238250"/>
            <a:ext cx="1031932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抽象語法樹 (AST) 靜態分析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51908" y="5135607"/>
            <a:ext cx="13238762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角色： 這是框架能夠實現高精準度盤點的技術核心。透過遍歷 AST，掃描器可以精確識別函式呼叫、引數值和密鑰長度，避免傳統文字比對的誤報問題。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實作元件： 框架使用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 Pytho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n 內建的 ast 模組，以及自定義的 PQC_AST_Visitor 類別來實現 Python 程式碼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的分析。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7196" y="3594645"/>
            <a:ext cx="1291240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定義： 框架能夠在單一的分析工具中處理多種不同程式語言 (目前為 Python 和 Java)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5743" y="981075"/>
            <a:ext cx="10985390" cy="180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7168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跨語言解析</a:t>
            </a:r>
          </a:p>
          <a:p>
            <a:pPr algn="l">
              <a:lnSpc>
                <a:spcPts val="7168"/>
              </a:lnSpc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 (Cross-Language Parsing)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78265" y="5517081"/>
            <a:ext cx="12912406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角色 (應用範圍)： 擴展了專案的實用性，使其能應對現代複雜的、多語言的軟體架構。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框架透過整合不同的解析器來實現：</a:t>
            </a:r>
          </a:p>
          <a:p>
            <a:pPr algn="l" marL="1381764" indent="-460588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Java： 整合 javalang 函式庫</a:t>
            </a:r>
          </a:p>
          <a:p>
            <a:pPr algn="l" marL="1381764" indent="-460588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Python： 使用 a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s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t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 模組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1316" y="9130433"/>
            <a:ext cx="24392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7196" y="3126774"/>
            <a:ext cx="1291240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定義： CBOM 是一種標準化、機器可讀的清單，記錄了軟體中使用的所有加密資產、演算法、密鑰和配置。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5743" y="1238250"/>
            <a:ext cx="1098539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密碼學物料清單 (CBOM) 標準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78265" y="5517081"/>
            <a:ext cx="12912406" cy="22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角色 (輸出 JSON 檔)： 掃描的最終產出報告。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generate_cbom函數將原始的發現結果轉換為結構化的 JSON 報告，並附帶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pqc_s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t</a:t>
            </a:r>
            <a:r>
              <a:rPr lang="en-US" sz="32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atus（如 VULNERABLE (QUANTUM)），以便數據能被其他安全管理工具自動讀取和利用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7196" y="2500266"/>
            <a:ext cx="12912406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定義： HTML 網頁報告是專案掃描結果的可視化、人機友善輸出層。它將原始數據轉換為靜態網頁檔案 (report.html)，其中內嵌了由 Plotly 生成的高互動性圖表。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7196" y="1238250"/>
            <a:ext cx="1156817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HTML 網頁報告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87797" y="4373607"/>
            <a:ext cx="12912406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角色 (輸出視覺化報告)：提供直觀風險分析的介面。將掃描發現的數百個 P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qcFinding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 數據點，總結為清晰的圓餅圖和長條圖，使非技術人員也能快速掌握專案的量子脆弱性分佈與問題嚴重程度。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00724" y="6573303"/>
            <a:ext cx="12912406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數據準備： 程式利用 pandas 對原始 f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indings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 列表進行分組和計數，為 Plotly 繪圖準備數據結構。</a:t>
            </a:r>
          </a:p>
          <a:p>
            <a:pPr algn="l" marL="647703" indent="-323852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圖表生成： 呼叫 plotly.graph_objects 相關方法，生成互動式圖表。</a:t>
            </a:r>
          </a:p>
          <a:p>
            <a:pPr algn="l" marL="647703" indent="-323852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HTML 輸出： 將 Plotly 生成的圖表 HTML 內容，寫入一個單一的 PQC_Report.html 檔案中，完成報告的可視化輸出。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-27522"/>
            <a:ext cx="3953882" cy="3910749"/>
          </a:xfrm>
          <a:custGeom>
            <a:avLst/>
            <a:gdLst/>
            <a:ahLst/>
            <a:cxnLst/>
            <a:rect r="r" b="b" t="t" l="l"/>
            <a:pathLst>
              <a:path h="3910749" w="3953882">
                <a:moveTo>
                  <a:pt x="3953882" y="0"/>
                </a:moveTo>
                <a:lnTo>
                  <a:pt x="0" y="0"/>
                </a:lnTo>
                <a:lnTo>
                  <a:pt x="0" y="3910749"/>
                </a:lnTo>
                <a:lnTo>
                  <a:pt x="3953882" y="3910749"/>
                </a:lnTo>
                <a:lnTo>
                  <a:pt x="39538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028700" y="8570905"/>
            <a:ext cx="2886010" cy="1374790"/>
          </a:xfrm>
          <a:custGeom>
            <a:avLst/>
            <a:gdLst/>
            <a:ahLst/>
            <a:cxnLst/>
            <a:rect r="r" b="b" t="t" l="l"/>
            <a:pathLst>
              <a:path h="1374790" w="2886010">
                <a:moveTo>
                  <a:pt x="0" y="1374790"/>
                </a:moveTo>
                <a:lnTo>
                  <a:pt x="2886010" y="1374790"/>
                </a:lnTo>
                <a:lnTo>
                  <a:pt x="2886010" y="0"/>
                </a:lnTo>
                <a:lnTo>
                  <a:pt x="0" y="0"/>
                </a:lnTo>
                <a:lnTo>
                  <a:pt x="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3364" y="4633720"/>
            <a:ext cx="11101272" cy="149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</a:pPr>
            <a:r>
              <a:rPr lang="en-US" sz="12945">
                <a:solidFill>
                  <a:srgbClr val="333652"/>
                </a:solidFill>
                <a:latin typeface="芫荽"/>
                <a:ea typeface="芫荽"/>
                <a:cs typeface="芫荽"/>
                <a:sym typeface="芫荽"/>
              </a:rPr>
              <a:t>系統架構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10800000">
            <a:off x="14373290" y="341305"/>
            <a:ext cx="2886010" cy="1374790"/>
          </a:xfrm>
          <a:custGeom>
            <a:avLst/>
            <a:gdLst/>
            <a:ahLst/>
            <a:cxnLst/>
            <a:rect r="r" b="b" t="t" l="l"/>
            <a:pathLst>
              <a:path h="1374790" w="2886010">
                <a:moveTo>
                  <a:pt x="2886010" y="1374790"/>
                </a:moveTo>
                <a:lnTo>
                  <a:pt x="0" y="1374790"/>
                </a:lnTo>
                <a:lnTo>
                  <a:pt x="0" y="0"/>
                </a:lnTo>
                <a:lnTo>
                  <a:pt x="2886010" y="0"/>
                </a:lnTo>
                <a:lnTo>
                  <a:pt x="288601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373290" y="6376251"/>
            <a:ext cx="3953882" cy="3910749"/>
          </a:xfrm>
          <a:custGeom>
            <a:avLst/>
            <a:gdLst/>
            <a:ahLst/>
            <a:cxnLst/>
            <a:rect r="r" b="b" t="t" l="l"/>
            <a:pathLst>
              <a:path h="3910749" w="3953882">
                <a:moveTo>
                  <a:pt x="0" y="3910749"/>
                </a:moveTo>
                <a:lnTo>
                  <a:pt x="3953881" y="3910749"/>
                </a:lnTo>
                <a:lnTo>
                  <a:pt x="3953881" y="0"/>
                </a:lnTo>
                <a:lnTo>
                  <a:pt x="0" y="0"/>
                </a:lnTo>
                <a:lnTo>
                  <a:pt x="0" y="39107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54404" y="2484408"/>
            <a:ext cx="16779191" cy="6712701"/>
          </a:xfrm>
          <a:custGeom>
            <a:avLst/>
            <a:gdLst/>
            <a:ahLst/>
            <a:cxnLst/>
            <a:rect r="r" b="b" t="t" l="l"/>
            <a:pathLst>
              <a:path h="6712701" w="16779191">
                <a:moveTo>
                  <a:pt x="0" y="0"/>
                </a:moveTo>
                <a:lnTo>
                  <a:pt x="16779192" y="0"/>
                </a:lnTo>
                <a:lnTo>
                  <a:pt x="16779192" y="6712700"/>
                </a:lnTo>
                <a:lnTo>
                  <a:pt x="0" y="6712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68" t="-32602" r="-3829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164705" y="1238250"/>
            <a:ext cx="7020177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系統功能流程圖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83281" y="2768619"/>
          <a:ext cx="7366603" cy="5823052"/>
        </p:xfrm>
        <a:graphic>
          <a:graphicData uri="http://schemas.openxmlformats.org/drawingml/2006/table">
            <a:tbl>
              <a:tblPr/>
              <a:tblGrid>
                <a:gridCol w="2326744"/>
                <a:gridCol w="5039859"/>
              </a:tblGrid>
              <a:tr h="9693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要求與說明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</a:tr>
              <a:tr h="9693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作業系統 (OS)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Windows / macOS / Linux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9814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Python 版本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Python 3.9 以上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4515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VS Code 環境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安裝 Python 擴充套件，並將解譯器指向專案的虛擬環境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4515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虛擬環境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使用 venv 或 conda 建立獨立的虛擬環境，隔離所有專案依賴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4745786" y="1238250"/>
            <a:ext cx="4197405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環境設置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9373" y="2018247"/>
            <a:ext cx="31916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基礎開發環境</a:t>
            </a:r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8592822" y="2768619"/>
          <a:ext cx="9034370" cy="7200900"/>
        </p:xfrm>
        <a:graphic>
          <a:graphicData uri="http://schemas.openxmlformats.org/drawingml/2006/table">
            <a:tbl>
              <a:tblPr/>
              <a:tblGrid>
                <a:gridCol w="2187681"/>
                <a:gridCol w="2786454"/>
                <a:gridCol w="4060235"/>
              </a:tblGrid>
              <a:tr h="9160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角色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功能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</a:tr>
              <a:tr h="13528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javalang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Java 解析器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負責解析 .java 檔案，生成 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7895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pycparser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C/C++ 輔助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處理 C/C++ 相關語法結構，雖然功能未完全實現，但為必要依賴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7895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pandas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數據處理與分析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對 AST 掃描得到的結果進行數據處理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，為 HTML 報告提供精確的繪圖數據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3528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plotly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HTML 報告視覺化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生成可互動的圓餅圖/長條圖，用於 HTML 報告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</a:tbl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8592822" y="2018247"/>
            <a:ext cx="319163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核心套件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132601" y="3389120"/>
          <a:ext cx="16022799" cy="4171950"/>
        </p:xfrm>
        <a:graphic>
          <a:graphicData uri="http://schemas.openxmlformats.org/drawingml/2006/table">
            <a:tbl>
              <a:tblPr/>
              <a:tblGrid>
                <a:gridCol w="3807996"/>
                <a:gridCol w="4969134"/>
                <a:gridCol w="7245669"/>
              </a:tblGrid>
              <a:tr h="1027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程式碼對應函數/類別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功能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</a:tr>
              <a:tr h="15723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CLI 介面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if __name__ == __main__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程式的 CLI 入口點，負責接收使用者傳入的檔案或目錄路徑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5723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專案自動化遞迴掃描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scan_project_recursive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依據路徑類型，決定掃描單一檔案或遞迴遍歷整個目錄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675078" y="1238250"/>
            <a:ext cx="11581031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命令行介面 (CLI) 與專案級掃描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3362932" y="3801870"/>
          <a:ext cx="14136789" cy="5875934"/>
        </p:xfrm>
        <a:graphic>
          <a:graphicData uri="http://schemas.openxmlformats.org/drawingml/2006/table">
            <a:tbl>
              <a:tblPr/>
              <a:tblGrid>
                <a:gridCol w="3293360"/>
                <a:gridCol w="4194758"/>
                <a:gridCol w="6648671"/>
              </a:tblGrid>
              <a:tr h="9332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程式碼對應函數/類別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功能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</a:tr>
              <a:tr h="13974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知識庫 (KBase)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PQC_KNOWLEDGE_BASE 字典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儲存弱雜湊 (MD5/SHA1)、弱加密 (DES)、量子脆弱資產 (RSA/ECC) 等規則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772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Python AST 引擎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scan_python PQC_AST_Visitor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74981" indent="-237491" lvl="1">
                        <a:lnSpc>
                          <a:spcPts val="30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基於 ast.NodeVisitor 實現精準的語義分析</a:t>
                      </a:r>
                      <a:endParaRPr lang="en-US" sz="1100"/>
                    </a:p>
                    <a:p>
                      <a:pPr algn="l" marL="474981" indent="-237491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能檢查 RSA 密鑰長度、AES/ECB 模式、和 IV 缺失等複雜的使用樣式風險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1772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Java AST 引擎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scan_java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 marL="474981" indent="-237491" lvl="1">
                        <a:lnSpc>
                          <a:spcPts val="30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使用 javalang 函式庫解析 Java 程式碼</a:t>
                      </a:r>
                      <a:endParaRPr lang="en-US" sz="1100"/>
                    </a:p>
                    <a:p>
                      <a:pPr algn="just" marL="474981" indent="-237491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能偵測 getInstance 中的 MD5/SHA1、DES 和 AES/ECB 模式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4367449" y="1238250"/>
            <a:ext cx="6063877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核心處理流程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7330" y="2250503"/>
            <a:ext cx="129124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從 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scan_project_recursive 啟動，通過檔案類型分派給對應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的解析器，並依賴知識庫進行判定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067929" y="791224"/>
            <a:ext cx="5208947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知識庫 (KBase)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743" y="1770087"/>
            <a:ext cx="6643703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規則來源：</a:t>
            </a:r>
          </a:p>
          <a:p>
            <a:pPr algn="l" marL="647703" indent="-323852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NIST (美國國家標準暨技術研究院)</a:t>
            </a:r>
          </a:p>
          <a:p>
            <a:pPr algn="l" marL="647703" indent="-323852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OWASP (開放網路軟體安全計畫)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79734" y="1770087"/>
            <a:ext cx="6643703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3. 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MITRE CWE (通用弱點列舉)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4. </a:t>
            </a: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Bandit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992743" y="3769395"/>
          <a:ext cx="16765467" cy="5908409"/>
        </p:xfrm>
        <a:graphic>
          <a:graphicData uri="http://schemas.openxmlformats.org/drawingml/2006/table">
            <a:tbl>
              <a:tblPr/>
              <a:tblGrid>
                <a:gridCol w="2978777"/>
                <a:gridCol w="3225015"/>
                <a:gridCol w="5209517"/>
                <a:gridCol w="5352158"/>
              </a:tblGrid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規則類別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涉及 ID 範例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主要依據 (Basis)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核心標準來源 (Source)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</a:tr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弱雜湊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B303, B324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碰撞攻擊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NIST SP 800-131A, FIPS 180-4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弱加密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B304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密鑰過短、Sweet32 攻擊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NIST SP 800-67 (3DES retired)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量子脆弱 (PQC Target)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B413_RSA, B413_ECC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Shor's Algorithm (秀爾演算法)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NIST PQC Project, CNSA 2.0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PQC 標準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B501, B502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NIST 第三輪篩選獲勝算法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FIPS 203 (ML-KEM), FIPS 204 (ML-DSA)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加密模式與 IV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B413_AES_WEAK, B416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ECB 模式洩漏特徵、GCM Nonce 重用風險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NIST SP 800-38A/D, CWE-329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7193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機密管理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B702-B709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原始碼洩漏導致密鑰失竊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OWASP Top 10, CWE-798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8729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隨機數與 KDF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B701, B703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偽隨機數可預測性、暴力破解防護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NIST SP 800-90A, SP 800-132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84481" y="573029"/>
            <a:ext cx="15119038" cy="8202078"/>
          </a:xfrm>
          <a:custGeom>
            <a:avLst/>
            <a:gdLst/>
            <a:ahLst/>
            <a:cxnLst/>
            <a:rect r="r" b="b" t="t" l="l"/>
            <a:pathLst>
              <a:path h="8202078" w="15119038">
                <a:moveTo>
                  <a:pt x="0" y="0"/>
                </a:moveTo>
                <a:lnTo>
                  <a:pt x="15119038" y="0"/>
                </a:lnTo>
                <a:lnTo>
                  <a:pt x="15119038" y="8202078"/>
                </a:lnTo>
                <a:lnTo>
                  <a:pt x="0" y="82020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86261" y="9173569"/>
            <a:ext cx="10877413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3499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PQC 知識庫與修復建議 (PQC_KNOWLEDGE_BASE 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38076" y="2345429"/>
          <a:ext cx="16411849" cy="7017325"/>
        </p:xfrm>
        <a:graphic>
          <a:graphicData uri="http://schemas.openxmlformats.org/drawingml/2006/table">
            <a:tbl>
              <a:tblPr/>
              <a:tblGrid>
                <a:gridCol w="2835387"/>
                <a:gridCol w="6100722"/>
                <a:gridCol w="7475740"/>
              </a:tblGrid>
              <a:tr h="9228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程式碼對應函數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功能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7F"/>
                    </a:solidFill>
                  </a:tcPr>
                </a:tc>
              </a:tr>
              <a:tr h="13871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標準化發現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report_finding 函數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負責將 AST 節點轉換為統一的 Python 字典格式 (RuleID, Type, Location 等)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2307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CBOM 報告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generate_cbom 函數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65" indent="-259082" lvl="1">
                        <a:lnSpc>
                          <a:spcPts val="336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彙整所有發現，並生成 CBOM JSON 檔</a:t>
                      </a:r>
                      <a:endParaRPr lang="en-US" sz="1100"/>
                    </a:p>
                    <a:p>
                      <a:pPr algn="l" marL="518165" indent="-259082" lvl="1">
                        <a:lnSpc>
                          <a:spcPts val="3360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自動為每個資產判斷 pqc_status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  <a:tr h="23997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HTML 網頁報告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A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圖表視覺化：plotly 函式庫</a:t>
                      </a: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數據預處理：pandas 函式庫</a:t>
                      </a:r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文件生成：generate_full_report_html( )</a:t>
                      </a:r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輸出結果：PQC_Report.html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65" indent="-259082" lvl="1">
                        <a:lnSpc>
                          <a:spcPts val="336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將掃描結果即時轉換為圖表</a:t>
                      </a:r>
                      <a:endParaRPr lang="en-US" sz="1100"/>
                    </a:p>
                    <a:p>
                      <a:pPr algn="l" marL="518165" indent="-259082" lvl="1">
                        <a:lnSpc>
                          <a:spcPts val="3360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對原始的 PqcFinding 進行聚合、分組和統計</a:t>
                      </a:r>
                    </a:p>
                    <a:p>
                      <a:pPr algn="l" marL="518165" indent="-259082" lvl="1">
                        <a:lnSpc>
                          <a:spcPts val="3360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協調並調度數據處理和 Plotly 繪圖</a:t>
                      </a:r>
                    </a:p>
                    <a:p>
                      <a:pPr algn="l" marL="518165" indent="-259082" lvl="1">
                        <a:lnSpc>
                          <a:spcPts val="3360"/>
                        </a:lnSpc>
                        <a:buFont typeface="Arial"/>
                        <a:buChar char="•"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芫荽"/>
                          <a:ea typeface="芫荽"/>
                          <a:cs typeface="芫荽"/>
                          <a:sym typeface="芫荽"/>
                        </a:rPr>
                        <a:t>最終的靜態網頁檔案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6112062" y="1238250"/>
            <a:ext cx="6063877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480"/>
              </a:lnSpc>
              <a:buAutoNum type="arabicPeriod" startAt="1"/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輸出與報告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7" id="17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768737" y="1475726"/>
            <a:ext cx="14750527" cy="8297171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5283018" y="486464"/>
            <a:ext cx="678355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5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Demo 展示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21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66724" y="1118619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未來展望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9652" y="2500266"/>
            <a:ext cx="807514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一、智能化與修復增強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大語言模型整合 (LLM)：語義級修復建議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誤報過濾優化：導入機器學習分類器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22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66724" y="5053350"/>
            <a:ext cx="1247282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二、服務化與深度整合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Web 應用介面：利用 Streamlit 建立 Web 儀表板和互動式掃描介面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75055" y="7073034"/>
            <a:ext cx="11984245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三、語言與規則擴展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規則庫國際化：擴展 PQC 知識庫的規則種類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配置文件分析：增加對 YAML, XML, JSON 配置文件的解析器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程式語言擴展：實現對C/C++的 AST 解析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410809" y="5512034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2525233" y="-5077468"/>
            <a:ext cx="12885741" cy="21021712"/>
            <a:chOff x="0" y="0"/>
            <a:chExt cx="3393776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9377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393775">
                  <a:moveTo>
                    <a:pt x="0" y="0"/>
                  </a:moveTo>
                  <a:lnTo>
                    <a:pt x="3393775" y="0"/>
                  </a:lnTo>
                  <a:lnTo>
                    <a:pt x="339377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93776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66724" y="1118619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心得結語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9053" y="2794092"/>
            <a:ext cx="13078101" cy="506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8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專題初期，面對後量子密碼遷移 (PQC) 這個全新的概念，我們耗費大量時間從閱讀文獻中建立基礎。在評估 Sonarqube、Bandit 等現有工具後，我們意識到它們的規則邏輯與語言差異難以整合 PQC 需求，最終決定自主開發以掌握核心控制權。實作階段，我們從環境受限的 tree-sitter 轉向更穩定的 AST 靜態分析，並克服了從單純關鍵字比對進化到多語言語義判斷的困難，這無疑是整個專題最艱鉅的部分。最終，我們成功將粗糙的終端機輸出，升級為精緻的 Plotly 視覺化報告，利用圓餅圖清晰呈現程式碼的整體安全程度，讓我們的努力成功轉化為一個精準、實用的 PQC 靜態掃描工具。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541810">
            <a:off x="-1054795" y="4941493"/>
            <a:ext cx="4475890" cy="8727676"/>
            <a:chOff x="0" y="0"/>
            <a:chExt cx="1178835" cy="2298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546206">
            <a:off x="15021355" y="-3240469"/>
            <a:ext cx="4475890" cy="8727676"/>
            <a:chOff x="0" y="0"/>
            <a:chExt cx="1178835" cy="2298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8835" cy="2298647"/>
            </a:xfrm>
            <a:custGeom>
              <a:avLst/>
              <a:gdLst/>
              <a:ahLst/>
              <a:cxnLst/>
              <a:rect r="r" b="b" t="t" l="l"/>
              <a:pathLst>
                <a:path h="2298647" w="1178835">
                  <a:moveTo>
                    <a:pt x="0" y="0"/>
                  </a:moveTo>
                  <a:lnTo>
                    <a:pt x="1178835" y="0"/>
                  </a:lnTo>
                  <a:lnTo>
                    <a:pt x="1178835" y="2298647"/>
                  </a:lnTo>
                  <a:lnTo>
                    <a:pt x="0" y="2298647"/>
                  </a:lnTo>
                  <a:close/>
                </a:path>
              </a:pathLst>
            </a:custGeom>
            <a:solidFill>
              <a:srgbClr val="ADC1C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8835" cy="234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10800000">
            <a:off x="15213844" y="581674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1876826" y="0"/>
                </a:moveTo>
                <a:lnTo>
                  <a:pt x="0" y="0"/>
                </a:lnTo>
                <a:lnTo>
                  <a:pt x="0" y="894052"/>
                </a:lnTo>
                <a:lnTo>
                  <a:pt x="1876826" y="894052"/>
                </a:lnTo>
                <a:lnTo>
                  <a:pt x="18768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259300" y="-145966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0" y="0"/>
                </a:moveTo>
                <a:lnTo>
                  <a:pt x="3394970" y="0"/>
                </a:lnTo>
                <a:lnTo>
                  <a:pt x="3394970" y="3339415"/>
                </a:lnTo>
                <a:lnTo>
                  <a:pt x="0" y="33394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532104">
            <a:off x="3162684" y="-5308574"/>
            <a:ext cx="12120557" cy="21021712"/>
            <a:chOff x="0" y="0"/>
            <a:chExt cx="3192245" cy="5536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245" cy="5536583"/>
            </a:xfrm>
            <a:custGeom>
              <a:avLst/>
              <a:gdLst/>
              <a:ahLst/>
              <a:cxnLst/>
              <a:rect r="r" b="b" t="t" l="l"/>
              <a:pathLst>
                <a:path h="5536583" w="3192245">
                  <a:moveTo>
                    <a:pt x="0" y="0"/>
                  </a:moveTo>
                  <a:lnTo>
                    <a:pt x="3192245" y="0"/>
                  </a:lnTo>
                  <a:lnTo>
                    <a:pt x="3192245" y="5536583"/>
                  </a:lnTo>
                  <a:lnTo>
                    <a:pt x="0" y="5536583"/>
                  </a:lnTo>
                  <a:close/>
                </a:path>
              </a:pathLst>
            </a:custGeom>
            <a:solidFill>
              <a:srgbClr val="ADC1CD">
                <a:alpha val="2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92245" cy="5574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0" y="-27522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2135743" y="0"/>
                </a:moveTo>
                <a:lnTo>
                  <a:pt x="0" y="0"/>
                </a:lnTo>
                <a:lnTo>
                  <a:pt x="0" y="2112444"/>
                </a:lnTo>
                <a:lnTo>
                  <a:pt x="2135743" y="2112444"/>
                </a:lnTo>
                <a:lnTo>
                  <a:pt x="21357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6152257" y="8174556"/>
            <a:ext cx="2135743" cy="2112444"/>
          </a:xfrm>
          <a:custGeom>
            <a:avLst/>
            <a:gdLst/>
            <a:ahLst/>
            <a:cxnLst/>
            <a:rect r="r" b="b" t="t" l="l"/>
            <a:pathLst>
              <a:path h="2112444" w="2135743">
                <a:moveTo>
                  <a:pt x="0" y="2112444"/>
                </a:moveTo>
                <a:lnTo>
                  <a:pt x="2135743" y="2112444"/>
                </a:lnTo>
                <a:lnTo>
                  <a:pt x="2135743" y="0"/>
                </a:lnTo>
                <a:lnTo>
                  <a:pt x="0" y="0"/>
                </a:lnTo>
                <a:lnTo>
                  <a:pt x="0" y="211244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10800000">
            <a:off x="1197330" y="8783752"/>
            <a:ext cx="1876827" cy="894052"/>
          </a:xfrm>
          <a:custGeom>
            <a:avLst/>
            <a:gdLst/>
            <a:ahLst/>
            <a:cxnLst/>
            <a:rect r="r" b="b" t="t" l="l"/>
            <a:pathLst>
              <a:path h="894052" w="1876827">
                <a:moveTo>
                  <a:pt x="0" y="894052"/>
                </a:moveTo>
                <a:lnTo>
                  <a:pt x="1876826" y="894052"/>
                </a:lnTo>
                <a:lnTo>
                  <a:pt x="1876826" y="0"/>
                </a:lnTo>
                <a:lnTo>
                  <a:pt x="0" y="0"/>
                </a:lnTo>
                <a:lnTo>
                  <a:pt x="0" y="8940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10800000">
            <a:off x="-2402227" y="7561070"/>
            <a:ext cx="3394970" cy="3339416"/>
          </a:xfrm>
          <a:custGeom>
            <a:avLst/>
            <a:gdLst/>
            <a:ahLst/>
            <a:cxnLst/>
            <a:rect r="r" b="b" t="t" l="l"/>
            <a:pathLst>
              <a:path h="3339416" w="3394970">
                <a:moveTo>
                  <a:pt x="3394970" y="3339416"/>
                </a:moveTo>
                <a:lnTo>
                  <a:pt x="0" y="3339416"/>
                </a:lnTo>
                <a:lnTo>
                  <a:pt x="0" y="0"/>
                </a:lnTo>
                <a:lnTo>
                  <a:pt x="3394970" y="0"/>
                </a:lnTo>
                <a:lnTo>
                  <a:pt x="3394970" y="33394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852963" y="876949"/>
            <a:ext cx="909582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銘謝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9426" y="9130433"/>
            <a:ext cx="48771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66724" y="2588346"/>
            <a:ext cx="13078101" cy="684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我們專題的成功，歸功於 勤業眾信 (Deloitte) 指導老師們的專業引導與支持。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專題啟蒙與方向確立：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面對陌生的 後量子密碼學 (PQC) 概念，老師們提供了專題訂定方向與可行性目標。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提供關鍵的論文與工具資源，幫助我們確立了自主開發基於 AST 靜態分析工具的核心方向。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持續指導與技術支持：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透過每月定期的線上會議，持續追蹤進度，給予關心與鼓勵。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在實作過程中，無論是技術難題（AST 語義分析）還是目標確立，老師們總能耐心給予專業的解答與指導。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成果昇華：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在老師的指導下，我們成功將專題從單純的輸出報告整合，進化到運用精確的 AST 語義分析和視覺化報告。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111213"/>
                </a:solidFill>
                <a:latin typeface="芫荽"/>
                <a:ea typeface="芫荽"/>
                <a:cs typeface="芫荽"/>
                <a:sym typeface="芫荽"/>
              </a:rPr>
              <a:t>最終克服困難，成功打造出符合 PQC 遷移需求的靜態掃描盤點工具。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-27522"/>
            <a:ext cx="3953882" cy="3910749"/>
          </a:xfrm>
          <a:custGeom>
            <a:avLst/>
            <a:gdLst/>
            <a:ahLst/>
            <a:cxnLst/>
            <a:rect r="r" b="b" t="t" l="l"/>
            <a:pathLst>
              <a:path h="3910749" w="3953882">
                <a:moveTo>
                  <a:pt x="3953882" y="0"/>
                </a:moveTo>
                <a:lnTo>
                  <a:pt x="0" y="0"/>
                </a:lnTo>
                <a:lnTo>
                  <a:pt x="0" y="3910749"/>
                </a:lnTo>
                <a:lnTo>
                  <a:pt x="3953882" y="3910749"/>
                </a:lnTo>
                <a:lnTo>
                  <a:pt x="39538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028700" y="8570905"/>
            <a:ext cx="2886010" cy="1374790"/>
          </a:xfrm>
          <a:custGeom>
            <a:avLst/>
            <a:gdLst/>
            <a:ahLst/>
            <a:cxnLst/>
            <a:rect r="r" b="b" t="t" l="l"/>
            <a:pathLst>
              <a:path h="1374790" w="2886010">
                <a:moveTo>
                  <a:pt x="0" y="1374790"/>
                </a:moveTo>
                <a:lnTo>
                  <a:pt x="2886010" y="1374790"/>
                </a:lnTo>
                <a:lnTo>
                  <a:pt x="2886010" y="0"/>
                </a:lnTo>
                <a:lnTo>
                  <a:pt x="0" y="0"/>
                </a:lnTo>
                <a:lnTo>
                  <a:pt x="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3364" y="4864051"/>
            <a:ext cx="11101272" cy="149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6"/>
              </a:lnSpc>
            </a:pPr>
            <a:r>
              <a:rPr lang="en-US" sz="12945">
                <a:solidFill>
                  <a:srgbClr val="333652"/>
                </a:solidFill>
                <a:latin typeface="芫荽"/>
                <a:ea typeface="芫荽"/>
                <a:cs typeface="芫荽"/>
                <a:sym typeface="芫荽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36041" y="6436061"/>
            <a:ext cx="6465163" cy="55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6"/>
              </a:lnSpc>
            </a:pPr>
            <a:r>
              <a:rPr lang="en-US" b="true" sz="4136">
                <a:solidFill>
                  <a:srgbClr val="333652"/>
                </a:solidFill>
                <a:latin typeface="Sarabun Bold"/>
                <a:ea typeface="Sarabun Bold"/>
                <a:cs typeface="Sarabun Bold"/>
                <a:sym typeface="Sarabun Bold"/>
              </a:rPr>
              <a:t>FOR YOUR ATTENTION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10800000">
            <a:off x="14373290" y="341305"/>
            <a:ext cx="2886010" cy="1374790"/>
          </a:xfrm>
          <a:custGeom>
            <a:avLst/>
            <a:gdLst/>
            <a:ahLst/>
            <a:cxnLst/>
            <a:rect r="r" b="b" t="t" l="l"/>
            <a:pathLst>
              <a:path h="1374790" w="2886010">
                <a:moveTo>
                  <a:pt x="2886010" y="1374790"/>
                </a:moveTo>
                <a:lnTo>
                  <a:pt x="0" y="1374790"/>
                </a:lnTo>
                <a:lnTo>
                  <a:pt x="0" y="0"/>
                </a:lnTo>
                <a:lnTo>
                  <a:pt x="2886010" y="0"/>
                </a:lnTo>
                <a:lnTo>
                  <a:pt x="2886010" y="13747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4373290" y="6376251"/>
            <a:ext cx="3953882" cy="3910749"/>
          </a:xfrm>
          <a:custGeom>
            <a:avLst/>
            <a:gdLst/>
            <a:ahLst/>
            <a:cxnLst/>
            <a:rect r="r" b="b" t="t" l="l"/>
            <a:pathLst>
              <a:path h="3910749" w="3953882">
                <a:moveTo>
                  <a:pt x="0" y="3910749"/>
                </a:moveTo>
                <a:lnTo>
                  <a:pt x="3953881" y="3910749"/>
                </a:lnTo>
                <a:lnTo>
                  <a:pt x="3953881" y="0"/>
                </a:lnTo>
                <a:lnTo>
                  <a:pt x="0" y="0"/>
                </a:lnTo>
                <a:lnTo>
                  <a:pt x="0" y="39107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DAG5T6uwVKs</dc:identifier>
  <dcterms:modified xsi:type="dcterms:W3CDTF">2011-08-01T06:04:30Z</dcterms:modified>
  <cp:revision>1</cp:revision>
  <dc:title>專題成果報告</dc:title>
</cp:coreProperties>
</file>